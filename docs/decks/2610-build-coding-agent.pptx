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731064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00338D"/>
                </a:solidFill>
                <a:latin typeface="Microsoft YaHei"/>
              </a:rPr>
              <a:t>Catalog</a:t>
            </a:r>
            <a:endParaRPr>
              <a:solidFill>
                <a:srgbClr val="00338D"/>
              </a:solidFill>
              <a:latin typeface="Microsoft YaHei"/>
            </a:endParaRPr>
          </a:p>
        </p:txBody>
      </p:sp>
      <p:sp>
        <p:nvSpPr>
          <p:cNvPr id="268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10668000" cy="4965700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Microsoft YaHei"/>
              </a:rPr>
              <a:t>Coding Agent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Cluade Code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Codex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Testing and evulation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Self developed coding agent</a:t>
            </a:r>
            <a:endParaRPr>
              <a:latin typeface="Microsoft YaHei"/>
            </a:endParaRPr>
          </a:p>
          <a:p>
            <a:endParaRPr>
              <a:latin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731064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00338D"/>
                </a:solidFill>
                <a:latin typeface="Microsoft YaHei"/>
              </a:rPr>
              <a:t>Code Agent Overview</a:t>
            </a:r>
            <a:endParaRPr>
              <a:solidFill>
                <a:srgbClr val="00338D"/>
              </a:solidFill>
              <a:latin typeface="Microsoft YaHei"/>
            </a:endParaRPr>
          </a:p>
        </p:txBody>
      </p:sp>
      <p:sp>
        <p:nvSpPr>
          <p:cNvPr id="262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10668000" cy="4965700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Microsoft YaHei"/>
              </a:rPr>
              <a:t>Fundamental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Common Agent = Model + Intruction + Tools + Context (MITC)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Coding Agent = Model + Intruction +  Coding Tools + Project Context + Feedback loop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Three demission: 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Human: Requirement, Quality, Feedback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Agent: Intent, Planning, Coding, Resoning 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Context: Code reporistoy, Architech spec, Dependency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Use Case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SLDC </a:t>
            </a:r>
            <a:endParaRPr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731064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00338D"/>
                </a:solidFill>
                <a:latin typeface="Microsoft YaHei"/>
              </a:rPr>
              <a:t>Claude Code </a:t>
            </a:r>
            <a:endParaRPr>
              <a:solidFill>
                <a:srgbClr val="00338D"/>
              </a:solidFill>
              <a:latin typeface="Microsoft YaHei"/>
            </a:endParaRPr>
          </a:p>
        </p:txBody>
      </p:sp>
      <p:sp>
        <p:nvSpPr>
          <p:cNvPr id="271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10668000" cy="4965700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Microsoft YaHei"/>
              </a:rPr>
              <a:t>Design principle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Singel Agent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Terminal first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Multiple Models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Three Layers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UI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Orchestration</a:t>
            </a:r>
            <a:endParaRPr>
              <a:latin typeface="Microsoft YaHei"/>
            </a:endParaRPr>
          </a:p>
          <a:p>
            <a:pPr lvl="1"/>
            <a:r>
              <a:rPr>
                <a:latin typeface="Microsoft YaHei"/>
              </a:rPr>
              <a:t>Tool execution</a:t>
            </a:r>
            <a:endParaRPr>
              <a:latin typeface="Microsoft YaHei"/>
            </a:endParaRPr>
          </a:p>
          <a:p>
            <a:r>
              <a:rPr>
                <a:latin typeface="Microsoft YaHei"/>
              </a:rPr>
              <a:t>other</a:t>
            </a:r>
            <a:endParaRPr>
              <a:latin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731064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00338D"/>
                </a:solidFill>
                <a:latin typeface="Microsoft YaHei"/>
              </a:rPr>
              <a:t>Claude Code </a:t>
            </a:r>
            <a:endParaRPr>
              <a:solidFill>
                <a:srgbClr val="00338D"/>
              </a:solidFill>
              <a:latin typeface="Microsoft YaHei"/>
            </a:endParaRPr>
          </a:p>
        </p:txBody>
      </p:sp>
      <p:sp>
        <p:nvSpPr>
          <p:cNvPr id="275" name="Rectangle 2"/>
          <p:cNvSpPr/>
          <p:nvPr/>
        </p:nvSpPr>
        <p:spPr>
          <a:xfrm>
            <a:off x="838200" y="1524000"/>
            <a:ext cx="2204720" cy="1046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600">
                <a:latin typeface="Microsoft YaHei"/>
              </a:rPr>
              <a:t>REPL</a:t>
            </a:r>
            <a:endParaRPr sz="1600">
              <a:latin typeface="Microsoft YaHei"/>
            </a:endParaRPr>
          </a:p>
          <a:p>
            <a:pPr algn="ctr"/>
            <a:r>
              <a:rPr sz="1600">
                <a:latin typeface="Microsoft YaHei"/>
              </a:rPr>
              <a:t>主界面控制器</a:t>
            </a:r>
            <a:endParaRPr sz="1600">
              <a:latin typeface="Microsoft YaHei"/>
            </a:endParaRPr>
          </a:p>
          <a:p>
            <a:pPr algn="ctr"/>
            <a:r>
              <a:rPr sz="1600">
                <a:latin typeface="Microsoft YaHei"/>
              </a:rPr>
              <a:t>终端渲染与用户交互</a:t>
            </a:r>
            <a:endParaRPr sz="1600">
              <a:latin typeface="Microsoft YaHei"/>
            </a:endParaRPr>
          </a:p>
        </p:txBody>
      </p:sp>
      <p:sp>
        <p:nvSpPr>
          <p:cNvPr id="276" name="Rectangle 2"/>
          <p:cNvSpPr/>
          <p:nvPr/>
        </p:nvSpPr>
        <p:spPr>
          <a:xfrm>
            <a:off x="4038600" y="1524000"/>
            <a:ext cx="2204720" cy="1046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600">
                <a:latin typeface="Microsoft YaHei"/>
              </a:rPr>
              <a:t>PromptInput</a:t>
            </a:r>
            <a:endParaRPr sz="1600">
              <a:latin typeface="Microsoft YaHei"/>
            </a:endParaRPr>
          </a:p>
        </p:txBody>
      </p:sp>
      <p:sp>
        <p:nvSpPr>
          <p:cNvPr id="277" name="Rectangle 2"/>
          <p:cNvSpPr/>
          <p:nvPr/>
        </p:nvSpPr>
        <p:spPr>
          <a:xfrm>
            <a:off x="7543800" y="1524000"/>
            <a:ext cx="2204720" cy="1046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600">
                <a:latin typeface="Microsoft YaHei"/>
              </a:rPr>
              <a:t>State</a:t>
            </a:r>
            <a:endParaRPr sz="1600">
              <a:latin typeface="Microsoft YaHei"/>
            </a:endParaRPr>
          </a:p>
          <a:p>
            <a:pPr algn="ctr"/>
            <a:r>
              <a:rPr sz="1600">
                <a:latin typeface="Microsoft YaHei"/>
              </a:rPr>
              <a:t>Context</a:t>
            </a:r>
            <a:endParaRPr sz="1600">
              <a:latin typeface="Microsoft YaHei"/>
            </a:endParaRPr>
          </a:p>
        </p:txBody>
      </p:sp>
      <p:sp>
        <p:nvSpPr>
          <p:cNvPr id="278" name="Rectangle 2"/>
          <p:cNvSpPr/>
          <p:nvPr/>
        </p:nvSpPr>
        <p:spPr>
          <a:xfrm>
            <a:off x="4038600" y="3581400"/>
            <a:ext cx="2204720" cy="1046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600">
                <a:latin typeface="Microsoft YaHei"/>
              </a:rPr>
              <a:t>Streaming</a:t>
            </a:r>
            <a:endParaRPr sz="1600">
              <a:latin typeface="Microsoft YaHei"/>
            </a:endParaRPr>
          </a:p>
          <a:p>
            <a:pPr algn="ctr"/>
            <a:r>
              <a:rPr sz="1600">
                <a:latin typeface="Microsoft YaHei"/>
              </a:rPr>
              <a:t>AsyncGenerator</a:t>
            </a:r>
            <a:endParaRPr sz="1600">
              <a:latin typeface="Microsoft YaHei"/>
            </a:endParaRPr>
          </a:p>
        </p:txBody>
      </p:sp>
      <p:sp>
        <p:nvSpPr>
          <p:cNvPr id="279" name="Rectangle 2"/>
          <p:cNvSpPr/>
          <p:nvPr/>
        </p:nvSpPr>
        <p:spPr>
          <a:xfrm>
            <a:off x="7543800" y="3657600"/>
            <a:ext cx="2204720" cy="1046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600">
                <a:latin typeface="Microsoft YaHei"/>
              </a:rPr>
              <a:t>Exception</a:t>
            </a:r>
            <a:endParaRPr sz="1600">
              <a:latin typeface="Microsoft YaHei"/>
            </a:endParaRPr>
          </a:p>
        </p:txBody>
      </p:sp>
      <p:sp>
        <p:nvSpPr>
          <p:cNvPr id="280" name="Line 7"/>
          <p:cNvSpPr/>
          <p:nvPr/>
        </p:nvSpPr>
        <p:spPr>
          <a:xfrm>
            <a:off x="3042920" y="2047240"/>
            <a:ext cx="1016000" cy="0"/>
          </a:xfrm>
          <a:prstGeom prst="lineInv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81" name="Line 7"/>
          <p:cNvSpPr/>
          <p:nvPr/>
        </p:nvSpPr>
        <p:spPr>
          <a:xfrm>
            <a:off x="6243320" y="2037080"/>
            <a:ext cx="1341120" cy="10160"/>
          </a:xfrm>
          <a:prstGeom prst="lineInv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5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